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Infrastructure MLOps pour la classification exploratoire du risque de diabète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/>
            </a:pPr>
            <a:r>
              <a:t>Projet de session — présentation orale (15 minutes)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/>
            </a:pPr>
            <a:r>
              <a:t>Domaine : santé préventive et analyse de données</a:t>
            </a:r>
          </a:p>
          <a:p>
            <a:pPr>
              <a:spcAft>
                <a:spcPts val="1200"/>
              </a:spcAft>
              <a:defRPr sz="2300"/>
            </a:pPr>
            <a:r>
              <a:t>Dataset : diabetes_risk.csv — 15 000 observations</a:t>
            </a:r>
          </a:p>
          <a:p>
            <a:pPr>
              <a:spcAft>
                <a:spcPts val="1200"/>
              </a:spcAft>
              <a:defRPr sz="2300"/>
            </a:pPr>
            <a:r>
              <a:t>Algorithme de démonstration : Random Forest</a:t>
            </a:r>
          </a:p>
          <a:p>
            <a:pPr>
              <a:spcAft>
                <a:spcPts val="1200"/>
              </a:spcAft>
              <a:defRPr sz="2300"/>
            </a:pPr>
            <a:r>
              <a:t>Équipe : [noms]  |  Cours : [nom]  |  Enseignant : [nom]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Besoin d'affaires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/>
            </a:pPr>
            <a:r>
              <a:t>Le client fictif : un centre de santé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Besoin : explorer les facteurs associés à trois niveaux de risque présents dans le dataset.</a:t>
            </a:r>
          </a:p>
          <a:p>
            <a:pPr>
              <a:spcAft>
                <a:spcPts val="1200"/>
              </a:spcAft>
              <a:defRPr sz="2100"/>
            </a:pPr>
            <a:r>
              <a:t>Livrer un pipeline reproductible, traçable et documenté.</a:t>
            </a:r>
          </a:p>
          <a:p>
            <a:pPr>
              <a:spcAft>
                <a:spcPts val="1200"/>
              </a:spcAft>
              <a:defRPr sz="2100"/>
            </a:pPr>
            <a:r>
              <a:t>Le système est un prototype d'aide à l'analyse, pas un outil de diagnostic.</a:t>
            </a:r>
          </a:p>
          <a:p>
            <a:pPr>
              <a:spcAft>
                <a:spcPts val="1200"/>
              </a:spcAft>
              <a:defRPr sz="2100"/>
            </a:pPr>
            <a:r>
              <a:t>Priorité du cours : infrastructure, workflow, traçabilité et exécution.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Données et qualité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/>
            </a:pPr>
            <a:r>
              <a:t>Constats initiaux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15,000 lignes et 19 colonnes.</a:t>
            </a:r>
          </a:p>
          <a:p>
            <a:pPr>
              <a:spcAft>
                <a:spcPts val="1200"/>
              </a:spcAft>
              <a:defRPr sz="2000"/>
            </a:pPr>
            <a:r>
              <a:t>4,723 cellules manquantes au total.</a:t>
            </a:r>
          </a:p>
          <a:p>
            <a:pPr>
              <a:spcAft>
                <a:spcPts val="1200"/>
              </a:spcAft>
              <a:defRPr sz="2000"/>
            </a:pPr>
            <a:r>
              <a:t>Cible : Low = 60 %, Moderate = 25 %, High = 15 %.</a:t>
            </a:r>
          </a:p>
          <a:p>
            <a:pPr>
              <a:spcAft>
                <a:spcPts val="1200"/>
              </a:spcAft>
              <a:defRPr sz="2000"/>
            </a:pPr>
            <a:r>
              <a:t>patient_id exclu des variables prédictives.</a:t>
            </a:r>
          </a:p>
          <a:p>
            <a:pPr>
              <a:spcAft>
                <a:spcPts val="1200"/>
              </a:spcAft>
              <a:defRPr sz="2000"/>
            </a:pPr>
            <a:r>
              <a:t>À vérifier : source, licence et méthode de création de diabetes_risk.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Architecture proposée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/>
            </a:pPr>
            <a:r>
              <a:t>Chaîne reproductible de bout en 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CSV → validation des données → prétraitement</a:t>
            </a:r>
          </a:p>
          <a:p>
            <a:pPr>
              <a:spcAft>
                <a:spcPts val="1200"/>
              </a:spcAft>
              <a:defRPr sz="2100"/>
            </a:pPr>
            <a:r>
              <a:t>Imputation + encodage One-Hot dans un pipeline Scikit-learn</a:t>
            </a:r>
          </a:p>
          <a:p>
            <a:pPr>
              <a:spcAft>
                <a:spcPts val="1200"/>
              </a:spcAft>
              <a:defRPr sz="2100"/>
            </a:pPr>
            <a:r>
              <a:t>Random Forest → métriques et artefacts</a:t>
            </a:r>
          </a:p>
          <a:p>
            <a:pPr>
              <a:spcAft>
                <a:spcPts val="1200"/>
              </a:spcAft>
              <a:defRPr sz="2100"/>
            </a:pPr>
            <a:r>
              <a:t>MLflow : paramètres, métriques, modèle et fichiers</a:t>
            </a:r>
          </a:p>
          <a:p>
            <a:pPr>
              <a:spcAft>
                <a:spcPts val="1200"/>
              </a:spcAft>
              <a:defRPr sz="2100"/>
            </a:pPr>
            <a:r>
              <a:t>Git/GitHub : historique du code; Streamlit facultatif pour la démonstration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Workflow d'exécution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/>
            </a:pPr>
            <a:r>
              <a:t>Séparation stratifiée 80/20 — random_state=42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1. Lire et contrôler le CSV.</a:t>
            </a:r>
          </a:p>
          <a:p>
            <a:pPr>
              <a:spcAft>
                <a:spcPts val="1200"/>
              </a:spcAft>
              <a:defRPr sz="1900"/>
            </a:pPr>
            <a:r>
              <a:t>2. Séparer les variables et la cible; retirer patient_id.</a:t>
            </a:r>
          </a:p>
          <a:p>
            <a:pPr>
              <a:spcAft>
                <a:spcPts val="1200"/>
              </a:spcAft>
              <a:defRPr sz="1900"/>
            </a:pPr>
            <a:r>
              <a:t>3. Imputer les valeurs manquantes et encoder les catégories.</a:t>
            </a:r>
          </a:p>
          <a:p>
            <a:pPr>
              <a:spcAft>
                <a:spcPts val="1200"/>
              </a:spcAft>
              <a:defRPr sz="1900"/>
            </a:pPr>
            <a:r>
              <a:t>4. Entraîner Random Forest (250 arbres, class_weight='balanced').</a:t>
            </a:r>
          </a:p>
          <a:p>
            <a:pPr>
              <a:spcAft>
                <a:spcPts val="1200"/>
              </a:spcAft>
              <a:defRPr sz="1900"/>
            </a:pPr>
            <a:r>
              <a:t>5. Évaluer sur le jeu de test et journaliser l'expérience.</a:t>
            </a:r>
          </a:p>
          <a:p>
            <a:pPr>
              <a:spcAft>
                <a:spcPts val="1200"/>
              </a:spcAft>
              <a:defRPr sz="1900"/>
            </a:pPr>
            <a:r>
              <a:t>6. Sauvegarder les résultats pour reproduire la démonstration.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Algorithme et métriques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Random Forest : baseline adaptée aux données tabulaires et aux relations non linéaires.</a:t>
            </a:r>
          </a:p>
          <a:p>
            <a:pPr>
              <a:spcAft>
                <a:spcPts val="1200"/>
              </a:spcAft>
              <a:defRPr sz="2000"/>
            </a:pPr>
            <a:r>
              <a:t>Accuracy : performance globale.</a:t>
            </a:r>
          </a:p>
          <a:p>
            <a:pPr>
              <a:spcAft>
                <a:spcPts val="1200"/>
              </a:spcAft>
              <a:defRPr sz="2000"/>
            </a:pPr>
            <a:r>
              <a:t>Balanced accuracy et F1 macro : lecture plus équilibrée des classes.</a:t>
            </a:r>
          </a:p>
          <a:p>
            <a:pPr>
              <a:spcAft>
                <a:spcPts val="1200"/>
              </a:spcAft>
              <a:defRPr sz="2000"/>
            </a:pPr>
            <a:r>
              <a:t>Precision, recall et matrice de confusion : comprendre les erreurs par catégorie.</a:t>
            </a:r>
          </a:p>
          <a:p>
            <a:pPr>
              <a:spcAft>
                <a:spcPts val="1200"/>
              </a:spcAft>
              <a:defRPr sz="2000"/>
            </a:pPr>
            <a:r>
              <a:t>Temps d'exécution et suivi MLflow : dimensions infrastructure.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Résultats de référence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/>
            </a:pPr>
            <a:r>
              <a:t>À reproduire dans l'environnement de 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/>
            </a:pPr>
            <a:r>
              <a:t>Accuracy : 0.783</a:t>
            </a:r>
          </a:p>
          <a:p>
            <a:pPr>
              <a:spcAft>
                <a:spcPts val="1200"/>
              </a:spcAft>
              <a:defRPr sz="2300"/>
            </a:pPr>
            <a:r>
              <a:t>Balanced accuracy : 0.732</a:t>
            </a:r>
          </a:p>
          <a:p>
            <a:pPr>
              <a:spcAft>
                <a:spcPts val="1200"/>
              </a:spcAft>
              <a:defRPr sz="2300"/>
            </a:pPr>
            <a:r>
              <a:t>F1 macro : 0.737</a:t>
            </a:r>
          </a:p>
          <a:p>
            <a:pPr>
              <a:spcAft>
                <a:spcPts val="1200"/>
              </a:spcAft>
              <a:defRPr sz="2300"/>
            </a:pPr>
            <a:r>
              <a:t>Jeu d'entraînement : 12,000 lignes; jeu de test : 3,000 lignes.</a:t>
            </a:r>
          </a:p>
          <a:p>
            <a:pPr>
              <a:spcAft>
                <a:spcPts val="1200"/>
              </a:spcAft>
              <a:defRPr sz="2300"/>
            </a:pPr>
            <a:r>
              <a:t>Ces résultats sont exploratoires; ils ne constituent pas une validation clinique.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Résultats visuels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/>
            </a:pPr>
            <a:r>
              <a:t>Matrice de confusion sur le jeu de test</a:t>
            </a:r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325880"/>
            <a:ext cx="7040880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Infrastructure MLOps et limites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MLflow journalise paramètres, métriques et artefacts quand il est installé.</a:t>
            </a:r>
          </a:p>
          <a:p>
            <a:pPr>
              <a:spcAft>
                <a:spcPts val="1200"/>
              </a:spcAft>
              <a:defRPr sz="1900"/>
            </a:pPr>
            <a:r>
              <a:t>Les données et transformations sont intégrées dans un pipeline reproductible.</a:t>
            </a:r>
          </a:p>
          <a:p>
            <a:pPr>
              <a:spcAft>
                <a:spcPts val="1200"/>
              </a:spcAft>
              <a:defRPr sz="1900"/>
            </a:pPr>
            <a:r>
              <a:t>Limites : déséquilibre des classes, données manquantes, représentativité inconnue.</a:t>
            </a:r>
          </a:p>
          <a:p>
            <a:pPr>
              <a:spcAft>
                <a:spcPts val="1200"/>
              </a:spcAft>
              <a:defRPr sz="1900"/>
            </a:pPr>
            <a:r>
              <a:t>Risque méthodologique : la cible peut être construite à partir de la glycémie ou de HbA1c.</a:t>
            </a:r>
          </a:p>
          <a:p>
            <a:pPr>
              <a:spcAft>
                <a:spcPts val="1200"/>
              </a:spcAft>
              <a:defRPr sz="1900"/>
            </a:pPr>
            <a:r>
              <a:t>Ne pas interpréter les importances comme des relations causales.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Difficultés, compétences et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Difficultés : valeurs manquantes, encodage, métriques multiclasse, MLflow et prévention des fuites.</a:t>
            </a:r>
          </a:p>
          <a:p>
            <a:pPr>
              <a:spcAft>
                <a:spcPts val="1200"/>
              </a:spcAft>
              <a:defRPr sz="1800"/>
            </a:pPr>
            <a:r>
              <a:t>Compétences : pipeline ML, évaluation, traçabilité, Git, documentation et communication.</a:t>
            </a:r>
          </a:p>
          <a:p>
            <a:pPr>
              <a:spcAft>
                <a:spcPts val="1200"/>
              </a:spcAft>
              <a:defRPr sz="1800"/>
            </a:pPr>
            <a:r>
              <a:t>Conclusion : la valeur du projet est une chaîne d'exécution reproductible, pas seulement un score.</a:t>
            </a:r>
          </a:p>
          <a:p>
            <a:pPr>
              <a:spcAft>
                <a:spcPts val="1200"/>
              </a:spcAft>
              <a:defRPr sz="1800"/>
            </a:pPr>
            <a:r>
              <a:t>Références : Kaggle (URL exacte à ajouter), Scikit-learn, MLflow, Breiman (2001).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